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F7EA56-1CDD-4098-9BB1-FF2BFE7FE1F8}">
  <a:tblStyle styleId="{1DF7EA56-1CDD-4098-9BB1-FF2BFE7FE1F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0" name="Google Shape;13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https://maven.apache.org/guides/introduction/introduction-to-the-lifecycle.html</a:t>
            </a:r>
            <a:endParaRPr/>
          </a:p>
        </p:txBody>
      </p:sp>
      <p:sp>
        <p:nvSpPr>
          <p:cNvPr id="131" name="Google Shape;131;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1" name="Google Shape;21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https://maven.apache.org/archetypes/index.html</a:t>
            </a:r>
            <a:endParaRPr/>
          </a:p>
        </p:txBody>
      </p:sp>
      <p:sp>
        <p:nvSpPr>
          <p:cNvPr id="212" name="Google Shape;212;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8" name="Google Shape;21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5" name="Google Shape;22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https://www.sohamkamani.com/java/cli-app-with-maven/</a:t>
            </a:r>
            <a:endParaRPr/>
          </a:p>
        </p:txBody>
      </p:sp>
      <p:sp>
        <p:nvSpPr>
          <p:cNvPr id="226" name="Google Shape;226;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6"/>
          <p:cNvSpPr/>
          <p:nvPr>
            <p:ph idx="2" type="pic"/>
          </p:nvPr>
        </p:nvSpPr>
        <p:spPr>
          <a:xfrm>
            <a:off x="1792288" y="612775"/>
            <a:ext cx="5486400" cy="4114800"/>
          </a:xfrm>
          <a:prstGeom prst="rect">
            <a:avLst/>
          </a:prstGeom>
          <a:noFill/>
          <a:ln>
            <a:noFill/>
          </a:ln>
        </p:spPr>
      </p:sp>
      <p:sp>
        <p:nvSpPr>
          <p:cNvPr id="42" name="Google Shape;42;p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3" name="Google Shape;43;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9" name="Google Shape;49;p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7" name="Google Shape;67;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8" name="Google Shape;6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4" name="Google Shape;74;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maven.apache.org/archetype/maven-archetype-plugin/" TargetMode="External"/><Relationship Id="rId4" Type="http://schemas.openxmlformats.org/officeDocument/2006/relationships/hyperlink" Target="https://maven.apache.org/archetype/archetype-packaging/" TargetMode="External"/><Relationship Id="rId5" Type="http://schemas.openxmlformats.org/officeDocument/2006/relationships/hyperlink" Target="https://maven.apache.org/archetype/archetype-models/" TargetMode="External"/><Relationship Id="rId6" Type="http://schemas.openxmlformats.org/officeDocument/2006/relationships/hyperlink" Target="https://maven.apache.org/archetype/archetype-common/" TargetMode="External"/><Relationship Id="rId7" Type="http://schemas.openxmlformats.org/officeDocument/2006/relationships/hyperlink" Target="https://maven.apache.org/archetype/archetype-test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Maven</a:t>
            </a:r>
            <a:br>
              <a:rPr b="1" i="0" lang="en-US" sz="4400" u="none">
                <a:solidFill>
                  <a:schemeClr val="dk1"/>
                </a:solidFill>
                <a:latin typeface="Calibri"/>
                <a:ea typeface="Calibri"/>
                <a:cs typeface="Calibri"/>
                <a:sym typeface="Calibri"/>
              </a:rPr>
            </a:br>
            <a:endParaRPr/>
          </a:p>
        </p:txBody>
      </p:sp>
      <p:sp>
        <p:nvSpPr>
          <p:cNvPr id="89" name="Google Shape;89;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solidFill>
                <a:srgbClr val="88888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Why do we need Maven?</a:t>
            </a:r>
            <a:br>
              <a:rPr b="0" i="0" lang="en-US" sz="4000" u="none">
                <a:solidFill>
                  <a:schemeClr val="dk1"/>
                </a:solidFill>
                <a:latin typeface="Calibri"/>
                <a:ea typeface="Calibri"/>
                <a:cs typeface="Calibri"/>
                <a:sym typeface="Calibri"/>
              </a:rPr>
            </a:br>
            <a:endParaRPr/>
          </a:p>
        </p:txBody>
      </p:sp>
      <p:sp>
        <p:nvSpPr>
          <p:cNvPr id="95" name="Google Shape;95;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If you are working on Java projects then most of the time you need dependencies. </a:t>
            </a:r>
            <a:endParaRPr/>
          </a:p>
          <a:p>
            <a:pPr indent="-342900" lvl="0" marL="342900" marR="0" rtl="0" algn="l">
              <a:lnSpc>
                <a:spcPct val="80000"/>
              </a:lnSpc>
              <a:spcBef>
                <a:spcPts val="5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Dependencies are nothing but libraries or JAR files. You need to download and add them manually. Also, the task of upgrading the software stack for your project was done manually before Maven. So there was a need for a better build tool that would handle such issues.</a:t>
            </a:r>
            <a:endParaRPr/>
          </a:p>
          <a:p>
            <a:pPr indent="-342900" lvl="0" marL="342900" marR="0" rtl="0" algn="l">
              <a:lnSpc>
                <a:spcPct val="80000"/>
              </a:lnSpc>
              <a:spcBef>
                <a:spcPts val="5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This where Maven comes into the picture. </a:t>
            </a:r>
            <a:endParaRPr/>
          </a:p>
          <a:p>
            <a:pPr indent="-342900" lvl="0" marL="342900" marR="0" rtl="0" algn="l">
              <a:lnSpc>
                <a:spcPct val="80000"/>
              </a:lnSpc>
              <a:spcBef>
                <a:spcPts val="50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Maven can solve all your problems related to dependencies. You just need to specify the dependencies and the software version that you want in pom.xml file in Maven and Maven will take care of the rest.</a:t>
            </a:r>
            <a:endParaRPr/>
          </a:p>
          <a:p>
            <a:pPr indent="-184150" lvl="0" marL="342900" marR="0" rtl="0" algn="l">
              <a:spcBef>
                <a:spcPts val="500"/>
              </a:spcBef>
              <a:spcAft>
                <a:spcPts val="0"/>
              </a:spcAft>
              <a:buClr>
                <a:schemeClr val="dk1"/>
              </a:buClr>
              <a:buSzPts val="2500"/>
              <a:buFont typeface="Arial"/>
              <a:buNone/>
            </a:pPr>
            <a:r>
              <a:t/>
            </a:r>
            <a:endParaRPr b="0" i="0" sz="2500" u="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What is Maven?</a:t>
            </a:r>
            <a:br>
              <a:rPr b="0" i="0" lang="en-US" sz="4000" u="none">
                <a:solidFill>
                  <a:schemeClr val="dk1"/>
                </a:solidFill>
                <a:latin typeface="Calibri"/>
                <a:ea typeface="Calibri"/>
                <a:cs typeface="Calibri"/>
                <a:sym typeface="Calibri"/>
              </a:rPr>
            </a:br>
            <a:endParaRPr/>
          </a:p>
        </p:txBody>
      </p:sp>
      <p:sp>
        <p:nvSpPr>
          <p:cNvPr id="101" name="Google Shape;101;p15"/>
          <p:cNvSpPr txBox="1"/>
          <p:nvPr>
            <p:ph idx="1" type="body"/>
          </p:nvPr>
        </p:nvSpPr>
        <p:spPr>
          <a:xfrm>
            <a:off x="457200" y="836612"/>
            <a:ext cx="8229600" cy="52895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The Maven project is developed by Apache Software Foundation where it was formerly a part of the Jakarta project.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Maven is a powerful build automation tool that is primarily used for Java-based projects. Maven helps you tackle two critical aspects of building software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It describes how software is built</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It describes the dependencies.</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idx="1" type="body"/>
          </p:nvPr>
        </p:nvSpPr>
        <p:spPr>
          <a:xfrm>
            <a:off x="457200" y="1600200"/>
            <a:ext cx="8229600" cy="49006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Maven prefers convention over configuration. Maven dynamically downloads Java libraries and Maven plug-ins from one or more repositories such as the Maven Central Repository and stores them in a local cache.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The artifacts of the local projects can also be updated with this local cache.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Maven can also help you build and manage projects written in C#, Ruby, Scala, and other languages.</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Project Object Model(POM) file is an XML file that contains information related to the project and configuration information such as dependencies, source directory, plugin, goals, etc. used by Maven to build the project.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Calibri"/>
                <a:ea typeface="Calibri"/>
                <a:cs typeface="Calibri"/>
                <a:sym typeface="Calibri"/>
              </a:rPr>
              <a:t>When you execute a maven command you give maven a POM file to execute the commands. Maven reads the pom.xml file to accomplish its configuration and operations.</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Maven Objectives</a:t>
            </a:r>
            <a:br>
              <a:rPr b="0" i="0" lang="en-US" sz="4000" u="none">
                <a:solidFill>
                  <a:schemeClr val="dk1"/>
                </a:solidFill>
                <a:latin typeface="Calibri"/>
                <a:ea typeface="Calibri"/>
                <a:cs typeface="Calibri"/>
                <a:sym typeface="Calibri"/>
              </a:rPr>
            </a:br>
            <a:endParaRPr/>
          </a:p>
        </p:txBody>
      </p:sp>
      <p:sp>
        <p:nvSpPr>
          <p:cNvPr id="112" name="Google Shape;112;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descr="Maven Objectives" id="113" name="Google Shape;113;p17"/>
          <p:cNvPicPr preferRelativeResize="0"/>
          <p:nvPr/>
        </p:nvPicPr>
        <p:blipFill rotWithShape="1">
          <a:blip r:embed="rId3">
            <a:alphaModFix/>
          </a:blip>
          <a:srcRect b="0" l="0" r="0" t="0"/>
          <a:stretch/>
        </p:blipFill>
        <p:spPr>
          <a:xfrm>
            <a:off x="1331912" y="2349500"/>
            <a:ext cx="6391275" cy="2886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When should someone use Maven?</a:t>
            </a:r>
            <a:br>
              <a:rPr b="0" i="0" lang="en-US" sz="4000" u="none">
                <a:solidFill>
                  <a:schemeClr val="dk1"/>
                </a:solidFill>
                <a:latin typeface="Calibri"/>
                <a:ea typeface="Calibri"/>
                <a:cs typeface="Calibri"/>
                <a:sym typeface="Calibri"/>
              </a:rPr>
            </a:br>
            <a:endParaRPr/>
          </a:p>
        </p:txBody>
      </p:sp>
      <p:sp>
        <p:nvSpPr>
          <p:cNvPr id="119" name="Google Shape;119;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If there are too many dependencies for the project.</a:t>
            </a:r>
            <a:endParaRPr/>
          </a:p>
          <a:p>
            <a:pPr indent="-342900" lvl="0" marL="342900" marR="0" rtl="0" algn="l">
              <a:lnSpc>
                <a:spcPct val="100000"/>
              </a:lnSpc>
              <a:spcBef>
                <a:spcPts val="60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When the dependency version update frequently.</a:t>
            </a:r>
            <a:endParaRPr/>
          </a:p>
          <a:p>
            <a:pPr indent="-342900" lvl="0" marL="342900" marR="0" rtl="0" algn="l">
              <a:lnSpc>
                <a:spcPct val="100000"/>
              </a:lnSpc>
              <a:spcBef>
                <a:spcPts val="60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Continuous builds, integration, and testing can be easily handled by using maven.</a:t>
            </a:r>
            <a:endParaRPr/>
          </a:p>
          <a:p>
            <a:pPr indent="-342900" lvl="0" marL="342900" marR="0" rtl="0" algn="l">
              <a:lnSpc>
                <a:spcPct val="100000"/>
              </a:lnSpc>
              <a:spcBef>
                <a:spcPts val="60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When one needs an easy way to generate documentation from the source code, compiling the source code, packaging compiled code into JAR files or ZIP files.</a:t>
            </a:r>
            <a:endParaRPr/>
          </a:p>
          <a:p>
            <a:pPr indent="-152400" lvl="0" marL="342900" marR="0" rtl="0" algn="l">
              <a:spcBef>
                <a:spcPts val="600"/>
              </a:spcBef>
              <a:spcAft>
                <a:spcPts val="0"/>
              </a:spcAft>
              <a:buClr>
                <a:schemeClr val="dk1"/>
              </a:buClr>
              <a:buSzPts val="3000"/>
              <a:buFont typeface="Arial"/>
              <a:buNone/>
            </a:pPr>
            <a:r>
              <a:t/>
            </a:r>
            <a:endParaRPr b="0" i="0" sz="3000" u="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Maven Architecture</a:t>
            </a:r>
            <a:br>
              <a:rPr b="0" i="0" lang="en-US" sz="4000" u="none">
                <a:solidFill>
                  <a:schemeClr val="dk1"/>
                </a:solidFill>
                <a:latin typeface="Calibri"/>
                <a:ea typeface="Calibri"/>
                <a:cs typeface="Calibri"/>
                <a:sym typeface="Calibri"/>
              </a:rPr>
            </a:br>
            <a:endParaRPr/>
          </a:p>
        </p:txBody>
      </p:sp>
      <p:sp>
        <p:nvSpPr>
          <p:cNvPr id="125" name="Google Shape;125;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descr="architecture" id="126" name="Google Shape;126;p19"/>
          <p:cNvPicPr preferRelativeResize="0"/>
          <p:nvPr/>
        </p:nvPicPr>
        <p:blipFill rotWithShape="1">
          <a:blip r:embed="rId3">
            <a:alphaModFix/>
          </a:blip>
          <a:srcRect b="0" l="0" r="0" t="0"/>
          <a:stretch/>
        </p:blipFill>
        <p:spPr>
          <a:xfrm>
            <a:off x="179387" y="1268412"/>
            <a:ext cx="5029200" cy="2447925"/>
          </a:xfrm>
          <a:prstGeom prst="rect">
            <a:avLst/>
          </a:prstGeom>
          <a:noFill/>
          <a:ln>
            <a:noFill/>
          </a:ln>
        </p:spPr>
      </p:pic>
      <p:pic>
        <p:nvPicPr>
          <p:cNvPr descr="Maven in Java - Edureka" id="127" name="Google Shape;127;p19"/>
          <p:cNvPicPr preferRelativeResize="0"/>
          <p:nvPr/>
        </p:nvPicPr>
        <p:blipFill rotWithShape="1">
          <a:blip r:embed="rId4">
            <a:alphaModFix/>
          </a:blip>
          <a:srcRect b="0" l="0" r="0" t="0"/>
          <a:stretch/>
        </p:blipFill>
        <p:spPr>
          <a:xfrm>
            <a:off x="3756025" y="3429000"/>
            <a:ext cx="5380037" cy="32496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Maven life cycle, phases and goals</a:t>
            </a:r>
            <a:br>
              <a:rPr b="0" i="0" lang="en-US" sz="4000" u="none">
                <a:solidFill>
                  <a:schemeClr val="dk1"/>
                </a:solidFill>
                <a:latin typeface="Calibri"/>
                <a:ea typeface="Calibri"/>
                <a:cs typeface="Calibri"/>
                <a:sym typeface="Calibri"/>
              </a:rPr>
            </a:br>
            <a:endParaRPr/>
          </a:p>
        </p:txBody>
      </p:sp>
      <p:sp>
        <p:nvSpPr>
          <p:cNvPr id="134" name="Google Shape;134;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Calibri"/>
                <a:ea typeface="Calibri"/>
                <a:cs typeface="Calibri"/>
                <a:sym typeface="Calibri"/>
              </a:rPr>
              <a:t>Maven life cycle</a:t>
            </a:r>
            <a:endParaRPr b="0" i="0" sz="3200" u="none">
              <a:solidFill>
                <a:schemeClr val="dk1"/>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pic>
        <p:nvPicPr>
          <p:cNvPr descr="lifecycle" id="135" name="Google Shape;135;p20"/>
          <p:cNvPicPr preferRelativeResize="0"/>
          <p:nvPr/>
        </p:nvPicPr>
        <p:blipFill rotWithShape="1">
          <a:blip r:embed="rId3">
            <a:alphaModFix/>
          </a:blip>
          <a:srcRect b="5284" l="0" r="0" t="0"/>
          <a:stretch/>
        </p:blipFill>
        <p:spPr>
          <a:xfrm>
            <a:off x="1476375" y="2492375"/>
            <a:ext cx="6470650" cy="3797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141" name="Google Shape;141;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There is a specific life cycle that Maven follows to deploy and distribute the target project.</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There are three built-in life cycles:</a:t>
            </a:r>
            <a:endParaRPr/>
          </a:p>
          <a:p>
            <a:pPr indent="-342900" lvl="0" marL="342900" marR="0" rtl="0" algn="l">
              <a:lnSpc>
                <a:spcPct val="80000"/>
              </a:lnSpc>
              <a:spcBef>
                <a:spcPts val="440"/>
              </a:spcBef>
              <a:spcAft>
                <a:spcPts val="0"/>
              </a:spcAft>
              <a:buClr>
                <a:schemeClr val="dk1"/>
              </a:buClr>
              <a:buSzPts val="2200"/>
              <a:buFont typeface="Arial"/>
              <a:buChar char="•"/>
            </a:pPr>
            <a:r>
              <a:rPr b="1" i="0" lang="en-US" sz="2200" u="none">
                <a:solidFill>
                  <a:schemeClr val="dk1"/>
                </a:solidFill>
                <a:latin typeface="Calibri"/>
                <a:ea typeface="Calibri"/>
                <a:cs typeface="Calibri"/>
                <a:sym typeface="Calibri"/>
              </a:rPr>
              <a:t>default</a:t>
            </a:r>
            <a:r>
              <a:rPr b="0" i="0" lang="en-US" sz="2200" u="none">
                <a:solidFill>
                  <a:schemeClr val="dk1"/>
                </a:solidFill>
                <a:latin typeface="Calibri"/>
                <a:ea typeface="Calibri"/>
                <a:cs typeface="Calibri"/>
                <a:sym typeface="Calibri"/>
              </a:rPr>
              <a:t> – This is the main life cycle of Maven as it is responsible for project deployment.</a:t>
            </a:r>
            <a:endParaRPr/>
          </a:p>
          <a:p>
            <a:pPr indent="-342900" lvl="0" marL="342900" marR="0" rtl="0" algn="l">
              <a:lnSpc>
                <a:spcPct val="80000"/>
              </a:lnSpc>
              <a:spcBef>
                <a:spcPts val="440"/>
              </a:spcBef>
              <a:spcAft>
                <a:spcPts val="0"/>
              </a:spcAft>
              <a:buClr>
                <a:schemeClr val="dk1"/>
              </a:buClr>
              <a:buSzPts val="2200"/>
              <a:buFont typeface="Arial"/>
              <a:buChar char="•"/>
            </a:pPr>
            <a:r>
              <a:rPr b="1" i="0" lang="en-US" sz="2200" u="none">
                <a:solidFill>
                  <a:schemeClr val="dk1"/>
                </a:solidFill>
                <a:latin typeface="Calibri"/>
                <a:ea typeface="Calibri"/>
                <a:cs typeface="Calibri"/>
                <a:sym typeface="Calibri"/>
              </a:rPr>
              <a:t>clean</a:t>
            </a:r>
            <a:r>
              <a:rPr b="0" i="0" lang="en-US" sz="2200" u="none">
                <a:solidFill>
                  <a:schemeClr val="dk1"/>
                </a:solidFill>
                <a:latin typeface="Calibri"/>
                <a:ea typeface="Calibri"/>
                <a:cs typeface="Calibri"/>
                <a:sym typeface="Calibri"/>
              </a:rPr>
              <a:t> – This life cycle is used to clean the project and remove all files generated by the previous build.</a:t>
            </a:r>
            <a:endParaRPr/>
          </a:p>
          <a:p>
            <a:pPr indent="-342900" lvl="0" marL="342900" marR="0" rtl="0" algn="l">
              <a:lnSpc>
                <a:spcPct val="80000"/>
              </a:lnSpc>
              <a:spcBef>
                <a:spcPts val="440"/>
              </a:spcBef>
              <a:spcAft>
                <a:spcPts val="0"/>
              </a:spcAft>
              <a:buClr>
                <a:schemeClr val="dk1"/>
              </a:buClr>
              <a:buSzPts val="2200"/>
              <a:buFont typeface="Arial"/>
              <a:buChar char="•"/>
            </a:pPr>
            <a:r>
              <a:rPr b="1" i="0" lang="en-US" sz="2200" u="none">
                <a:solidFill>
                  <a:schemeClr val="dk1"/>
                </a:solidFill>
                <a:latin typeface="Calibri"/>
                <a:ea typeface="Calibri"/>
                <a:cs typeface="Calibri"/>
                <a:sym typeface="Calibri"/>
              </a:rPr>
              <a:t>site</a:t>
            </a:r>
            <a:r>
              <a:rPr b="0" i="0" lang="en-US" sz="2200" u="none">
                <a:solidFill>
                  <a:schemeClr val="dk1"/>
                </a:solidFill>
                <a:latin typeface="Calibri"/>
                <a:ea typeface="Calibri"/>
                <a:cs typeface="Calibri"/>
                <a:sym typeface="Calibri"/>
              </a:rPr>
              <a:t> – The aim of this life cycle is to create the project’s site documentation.</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Each life cycle is made up of a sequence of phases. The default build life cycle consists of 23 phases as it is the main build life cycle of Maven</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On the other hand, clean life cycle consists of 3 phases, while the site life cycle is made up of 4 phases.</a:t>
            </a:r>
            <a:endParaRPr/>
          </a:p>
          <a:p>
            <a:pPr indent="-203200" lvl="0" marL="342900" marR="0" rtl="0" algn="l">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Maven Phases</a:t>
            </a:r>
            <a:br>
              <a:rPr b="0" i="0" lang="en-US" sz="4000" u="none">
                <a:solidFill>
                  <a:schemeClr val="dk1"/>
                </a:solidFill>
                <a:latin typeface="Calibri"/>
                <a:ea typeface="Calibri"/>
                <a:cs typeface="Calibri"/>
                <a:sym typeface="Calibri"/>
              </a:rPr>
            </a:br>
            <a:endParaRPr/>
          </a:p>
        </p:txBody>
      </p:sp>
      <p:sp>
        <p:nvSpPr>
          <p:cNvPr id="147" name="Google Shape;147;p22"/>
          <p:cNvSpPr txBox="1"/>
          <p:nvPr>
            <p:ph idx="1" type="body"/>
          </p:nvPr>
        </p:nvSpPr>
        <p:spPr>
          <a:xfrm>
            <a:off x="457200" y="857250"/>
            <a:ext cx="8229600" cy="52689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Maven phase is nothing but a stage in the Maven build life cycle. Each phase executes a specific task.</a:t>
            </a:r>
            <a:endParaRPr/>
          </a:p>
        </p:txBody>
      </p:sp>
      <p:pic>
        <p:nvPicPr>
          <p:cNvPr descr="phases" id="148" name="Google Shape;148;p22"/>
          <p:cNvPicPr preferRelativeResize="0"/>
          <p:nvPr/>
        </p:nvPicPr>
        <p:blipFill rotWithShape="1">
          <a:blip r:embed="rId3">
            <a:alphaModFix/>
          </a:blip>
          <a:srcRect b="3410" l="0" r="0" t="0"/>
          <a:stretch/>
        </p:blipFill>
        <p:spPr>
          <a:xfrm>
            <a:off x="1643062" y="2357437"/>
            <a:ext cx="5521325" cy="4057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154" name="Google Shape;154;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2500"/>
              <a:buFont typeface="Arial"/>
              <a:buChar char="•"/>
            </a:pPr>
            <a:r>
              <a:rPr b="1" i="0" lang="en-US" sz="2500" u="none">
                <a:solidFill>
                  <a:schemeClr val="dk1"/>
                </a:solidFill>
                <a:latin typeface="Calibri"/>
                <a:ea typeface="Calibri"/>
                <a:cs typeface="Calibri"/>
                <a:sym typeface="Calibri"/>
              </a:rPr>
              <a:t>validate</a:t>
            </a:r>
            <a:r>
              <a:rPr b="0" i="0" lang="en-US" sz="2500" u="none">
                <a:solidFill>
                  <a:schemeClr val="dk1"/>
                </a:solidFill>
                <a:latin typeface="Calibri"/>
                <a:ea typeface="Calibri"/>
                <a:cs typeface="Calibri"/>
                <a:sym typeface="Calibri"/>
              </a:rPr>
              <a:t> –  This phase checks if all information necessary for the build is available</a:t>
            </a:r>
            <a:endParaRPr/>
          </a:p>
          <a:p>
            <a:pPr indent="-342900" lvl="0" marL="342900" marR="0" rtl="0" algn="l">
              <a:lnSpc>
                <a:spcPct val="80000"/>
              </a:lnSpc>
              <a:spcBef>
                <a:spcPts val="500"/>
              </a:spcBef>
              <a:spcAft>
                <a:spcPts val="0"/>
              </a:spcAft>
              <a:buClr>
                <a:schemeClr val="dk1"/>
              </a:buClr>
              <a:buSzPts val="2500"/>
              <a:buFont typeface="Arial"/>
              <a:buChar char="•"/>
            </a:pPr>
            <a:r>
              <a:rPr b="1" i="0" lang="en-US" sz="2500" u="none">
                <a:solidFill>
                  <a:schemeClr val="dk1"/>
                </a:solidFill>
                <a:latin typeface="Calibri"/>
                <a:ea typeface="Calibri"/>
                <a:cs typeface="Calibri"/>
                <a:sym typeface="Calibri"/>
              </a:rPr>
              <a:t>compile</a:t>
            </a:r>
            <a:r>
              <a:rPr b="0" i="0" lang="en-US" sz="2500" u="none">
                <a:solidFill>
                  <a:schemeClr val="dk1"/>
                </a:solidFill>
                <a:latin typeface="Calibri"/>
                <a:ea typeface="Calibri"/>
                <a:cs typeface="Calibri"/>
                <a:sym typeface="Calibri"/>
              </a:rPr>
              <a:t> – This phase compiles the source code</a:t>
            </a:r>
            <a:endParaRPr/>
          </a:p>
          <a:p>
            <a:pPr indent="-342900" lvl="0" marL="342900" marR="0" rtl="0" algn="l">
              <a:lnSpc>
                <a:spcPct val="80000"/>
              </a:lnSpc>
              <a:spcBef>
                <a:spcPts val="500"/>
              </a:spcBef>
              <a:spcAft>
                <a:spcPts val="0"/>
              </a:spcAft>
              <a:buClr>
                <a:schemeClr val="dk1"/>
              </a:buClr>
              <a:buSzPts val="2500"/>
              <a:buFont typeface="Arial"/>
              <a:buChar char="•"/>
            </a:pPr>
            <a:r>
              <a:rPr b="1" i="0" lang="en-US" sz="2500" u="none">
                <a:solidFill>
                  <a:schemeClr val="dk1"/>
                </a:solidFill>
                <a:latin typeface="Calibri"/>
                <a:ea typeface="Calibri"/>
                <a:cs typeface="Calibri"/>
                <a:sym typeface="Calibri"/>
              </a:rPr>
              <a:t>test-compile</a:t>
            </a:r>
            <a:r>
              <a:rPr b="0" i="0" lang="en-US" sz="2500" u="none">
                <a:solidFill>
                  <a:schemeClr val="dk1"/>
                </a:solidFill>
                <a:latin typeface="Calibri"/>
                <a:ea typeface="Calibri"/>
                <a:cs typeface="Calibri"/>
                <a:sym typeface="Calibri"/>
              </a:rPr>
              <a:t> – This phase compiles the test source code</a:t>
            </a:r>
            <a:endParaRPr/>
          </a:p>
          <a:p>
            <a:pPr indent="-342900" lvl="0" marL="342900" marR="0" rtl="0" algn="l">
              <a:lnSpc>
                <a:spcPct val="80000"/>
              </a:lnSpc>
              <a:spcBef>
                <a:spcPts val="500"/>
              </a:spcBef>
              <a:spcAft>
                <a:spcPts val="0"/>
              </a:spcAft>
              <a:buClr>
                <a:schemeClr val="dk1"/>
              </a:buClr>
              <a:buSzPts val="2500"/>
              <a:buFont typeface="Arial"/>
              <a:buChar char="•"/>
            </a:pPr>
            <a:r>
              <a:rPr b="1" i="0" lang="en-US" sz="2500" u="none">
                <a:solidFill>
                  <a:schemeClr val="dk1"/>
                </a:solidFill>
                <a:latin typeface="Calibri"/>
                <a:ea typeface="Calibri"/>
                <a:cs typeface="Calibri"/>
                <a:sym typeface="Calibri"/>
              </a:rPr>
              <a:t>test</a:t>
            </a:r>
            <a:r>
              <a:rPr b="0" i="0" lang="en-US" sz="2500" u="none">
                <a:solidFill>
                  <a:schemeClr val="dk1"/>
                </a:solidFill>
                <a:latin typeface="Calibri"/>
                <a:ea typeface="Calibri"/>
                <a:cs typeface="Calibri"/>
                <a:sym typeface="Calibri"/>
              </a:rPr>
              <a:t> – This phase runs unit tests</a:t>
            </a:r>
            <a:endParaRPr/>
          </a:p>
          <a:p>
            <a:pPr indent="-342900" lvl="0" marL="342900" marR="0" rtl="0" algn="l">
              <a:lnSpc>
                <a:spcPct val="80000"/>
              </a:lnSpc>
              <a:spcBef>
                <a:spcPts val="500"/>
              </a:spcBef>
              <a:spcAft>
                <a:spcPts val="0"/>
              </a:spcAft>
              <a:buClr>
                <a:schemeClr val="dk1"/>
              </a:buClr>
              <a:buSzPts val="2500"/>
              <a:buFont typeface="Arial"/>
              <a:buChar char="•"/>
            </a:pPr>
            <a:r>
              <a:rPr b="1" i="0" lang="en-US" sz="2500" u="none">
                <a:solidFill>
                  <a:schemeClr val="dk1"/>
                </a:solidFill>
                <a:latin typeface="Calibri"/>
                <a:ea typeface="Calibri"/>
                <a:cs typeface="Calibri"/>
                <a:sym typeface="Calibri"/>
              </a:rPr>
              <a:t>package</a:t>
            </a:r>
            <a:r>
              <a:rPr b="0" i="0" lang="en-US" sz="2500" u="none">
                <a:solidFill>
                  <a:schemeClr val="dk1"/>
                </a:solidFill>
                <a:latin typeface="Calibri"/>
                <a:ea typeface="Calibri"/>
                <a:cs typeface="Calibri"/>
                <a:sym typeface="Calibri"/>
              </a:rPr>
              <a:t> – This phase packages compiled source code into the distributable format (jar, war)</a:t>
            </a:r>
            <a:endParaRPr/>
          </a:p>
          <a:p>
            <a:pPr indent="-342900" lvl="0" marL="342900" marR="0" rtl="0" algn="l">
              <a:lnSpc>
                <a:spcPct val="80000"/>
              </a:lnSpc>
              <a:spcBef>
                <a:spcPts val="500"/>
              </a:spcBef>
              <a:spcAft>
                <a:spcPts val="0"/>
              </a:spcAft>
              <a:buClr>
                <a:schemeClr val="dk1"/>
              </a:buClr>
              <a:buSzPts val="2500"/>
              <a:buFont typeface="Arial"/>
              <a:buChar char="•"/>
            </a:pPr>
            <a:r>
              <a:rPr b="1" i="0" lang="en-US" sz="2500" u="none">
                <a:solidFill>
                  <a:schemeClr val="dk1"/>
                </a:solidFill>
                <a:latin typeface="Calibri"/>
                <a:ea typeface="Calibri"/>
                <a:cs typeface="Calibri"/>
                <a:sym typeface="Calibri"/>
              </a:rPr>
              <a:t>integration-test</a:t>
            </a:r>
            <a:r>
              <a:rPr b="0" i="0" lang="en-US" sz="2500" u="none">
                <a:solidFill>
                  <a:schemeClr val="dk1"/>
                </a:solidFill>
                <a:latin typeface="Calibri"/>
                <a:ea typeface="Calibri"/>
                <a:cs typeface="Calibri"/>
                <a:sym typeface="Calibri"/>
              </a:rPr>
              <a:t> – This phase processes and deploys the package if needed to run integration tests</a:t>
            </a:r>
            <a:endParaRPr/>
          </a:p>
          <a:p>
            <a:pPr indent="-342900" lvl="0" marL="342900" marR="0" rtl="0" algn="l">
              <a:lnSpc>
                <a:spcPct val="80000"/>
              </a:lnSpc>
              <a:spcBef>
                <a:spcPts val="500"/>
              </a:spcBef>
              <a:spcAft>
                <a:spcPts val="0"/>
              </a:spcAft>
              <a:buClr>
                <a:schemeClr val="dk1"/>
              </a:buClr>
              <a:buSzPts val="2500"/>
              <a:buFont typeface="Arial"/>
              <a:buChar char="•"/>
            </a:pPr>
            <a:r>
              <a:rPr b="1" i="0" lang="en-US" sz="2500" u="none">
                <a:solidFill>
                  <a:schemeClr val="dk1"/>
                </a:solidFill>
                <a:latin typeface="Calibri"/>
                <a:ea typeface="Calibri"/>
                <a:cs typeface="Calibri"/>
                <a:sym typeface="Calibri"/>
              </a:rPr>
              <a:t>install</a:t>
            </a:r>
            <a:r>
              <a:rPr b="0" i="0" lang="en-US" sz="2500" u="none">
                <a:solidFill>
                  <a:schemeClr val="dk1"/>
                </a:solidFill>
                <a:latin typeface="Calibri"/>
                <a:ea typeface="Calibri"/>
                <a:cs typeface="Calibri"/>
                <a:sym typeface="Calibri"/>
              </a:rPr>
              <a:t> – This phase installs the package to a local repository</a:t>
            </a:r>
            <a:endParaRPr/>
          </a:p>
          <a:p>
            <a:pPr indent="-342900" lvl="0" marL="342900" marR="0" rtl="0" algn="l">
              <a:lnSpc>
                <a:spcPct val="80000"/>
              </a:lnSpc>
              <a:spcBef>
                <a:spcPts val="500"/>
              </a:spcBef>
              <a:spcAft>
                <a:spcPts val="0"/>
              </a:spcAft>
              <a:buClr>
                <a:schemeClr val="dk1"/>
              </a:buClr>
              <a:buSzPts val="2500"/>
              <a:buFont typeface="Arial"/>
              <a:buChar char="•"/>
            </a:pPr>
            <a:r>
              <a:rPr b="1" i="0" lang="en-US" sz="2500" u="none">
                <a:solidFill>
                  <a:schemeClr val="dk1"/>
                </a:solidFill>
                <a:latin typeface="Calibri"/>
                <a:ea typeface="Calibri"/>
                <a:cs typeface="Calibri"/>
                <a:sym typeface="Calibri"/>
              </a:rPr>
              <a:t>deploy</a:t>
            </a:r>
            <a:r>
              <a:rPr b="0" i="0" lang="en-US" sz="2500" u="none">
                <a:solidFill>
                  <a:schemeClr val="dk1"/>
                </a:solidFill>
                <a:latin typeface="Calibri"/>
                <a:ea typeface="Calibri"/>
                <a:cs typeface="Calibri"/>
                <a:sym typeface="Calibri"/>
              </a:rPr>
              <a:t> – This phase copies the package to the remote repository</a:t>
            </a:r>
            <a:endParaRPr/>
          </a:p>
          <a:p>
            <a:pPr indent="-184150" lvl="0" marL="342900" marR="0" rtl="0" algn="l">
              <a:spcBef>
                <a:spcPts val="500"/>
              </a:spcBef>
              <a:spcAft>
                <a:spcPts val="0"/>
              </a:spcAft>
              <a:buClr>
                <a:schemeClr val="dk1"/>
              </a:buClr>
              <a:buSzPts val="2500"/>
              <a:buFont typeface="Arial"/>
              <a:buNone/>
            </a:pPr>
            <a:r>
              <a:t/>
            </a:r>
            <a:endParaRPr b="0" i="0" sz="2500" u="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160" name="Google Shape;160;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Maven executes phases in a specific order. This means that if we run a specific phase using the command such as mvn  &lt;phase&gt;, this won’t only execute the specified phase but all the preceding phases as well.</a:t>
            </a:r>
            <a:endParaRPr/>
          </a:p>
          <a:p>
            <a:pPr indent="-342900" lvl="0" marL="342900" marR="0" rtl="0" algn="l">
              <a:lnSpc>
                <a:spcPct val="90000"/>
              </a:lnSpc>
              <a:spcBef>
                <a:spcPts val="60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For example, if you run the command mvn deploy, that is, the deploy phase which is the last phase in the default build life cycle, then this will execute all phases prior to the deploy phase as well.</a:t>
            </a:r>
            <a:endParaRPr/>
          </a:p>
          <a:p>
            <a:pPr indent="-152400" lvl="0" marL="342900" marR="0" rtl="0" algn="l">
              <a:spcBef>
                <a:spcPts val="600"/>
              </a:spcBef>
              <a:spcAft>
                <a:spcPts val="0"/>
              </a:spcAft>
              <a:buClr>
                <a:schemeClr val="dk1"/>
              </a:buClr>
              <a:buSzPts val="3000"/>
              <a:buFont typeface="Arial"/>
              <a:buNone/>
            </a:pPr>
            <a:r>
              <a:t/>
            </a:r>
            <a:endParaRPr b="0" i="0" sz="3000" u="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3. Maven Goals</a:t>
            </a:r>
            <a:br>
              <a:rPr b="0" i="0" lang="en-US" sz="4000" u="none">
                <a:solidFill>
                  <a:schemeClr val="dk1"/>
                </a:solidFill>
                <a:latin typeface="Calibri"/>
                <a:ea typeface="Calibri"/>
                <a:cs typeface="Calibri"/>
                <a:sym typeface="Calibri"/>
              </a:rPr>
            </a:br>
            <a:endParaRPr/>
          </a:p>
        </p:txBody>
      </p:sp>
      <p:sp>
        <p:nvSpPr>
          <p:cNvPr id="166" name="Google Shape;166;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A sequence of goals constitutes a phase and each goal executes a specific task. When you run a phase, then Maven executes all the goals in an order that are associated with that phase.  The syntax used is plugin:goal. Some of the phases and the default goals bound to them are as follows :</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compiler:compile – compile phase</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compiler:test – test-compile phase</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surefire:test – test phase</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install:install – install phase</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jar and war:war – package phase</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A Maven plugin is a group of goals. However, these goals aren’t necessarily all bound to the same phase. For example, the Maven Failsafe plugin which is responsible for running integration tests. For unit testing, you need Maven surefire plugin.</a:t>
            </a:r>
            <a:endParaRPr/>
          </a:p>
          <a:p>
            <a:pPr indent="-203200" lvl="0" marL="342900" marR="0" rtl="0" algn="l">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Advantages and disadvantages of Maven:</a:t>
            </a:r>
            <a:br>
              <a:rPr b="0" i="0" lang="en-US" sz="4000" u="none">
                <a:solidFill>
                  <a:schemeClr val="dk1"/>
                </a:solidFill>
                <a:latin typeface="Calibri"/>
                <a:ea typeface="Calibri"/>
                <a:cs typeface="Calibri"/>
                <a:sym typeface="Calibri"/>
              </a:rPr>
            </a:br>
            <a:endParaRPr/>
          </a:p>
        </p:txBody>
      </p:sp>
      <p:sp>
        <p:nvSpPr>
          <p:cNvPr id="172" name="Google Shape;172;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Starting with the advantages:</a:t>
            </a:r>
            <a:br>
              <a:rPr b="0" i="0" lang="en-US" sz="3000" u="none">
                <a:solidFill>
                  <a:schemeClr val="dk1"/>
                </a:solidFill>
                <a:latin typeface="Calibri"/>
                <a:ea typeface="Calibri"/>
                <a:cs typeface="Calibri"/>
                <a:sym typeface="Calibri"/>
              </a:rPr>
            </a:br>
            <a:r>
              <a:rPr b="0" i="0" lang="en-US" sz="3000" u="none">
                <a:solidFill>
                  <a:schemeClr val="dk1"/>
                </a:solidFill>
                <a:latin typeface="Calibri"/>
                <a:ea typeface="Calibri"/>
                <a:cs typeface="Calibri"/>
                <a:sym typeface="Calibri"/>
              </a:rPr>
              <a:t>1. Maven gives an easy start to the project in different environments.</a:t>
            </a:r>
            <a:br>
              <a:rPr b="0" i="0" lang="en-US" sz="3000" u="none">
                <a:solidFill>
                  <a:schemeClr val="dk1"/>
                </a:solidFill>
                <a:latin typeface="Calibri"/>
                <a:ea typeface="Calibri"/>
                <a:cs typeface="Calibri"/>
                <a:sym typeface="Calibri"/>
              </a:rPr>
            </a:br>
            <a:r>
              <a:rPr b="0" i="0" lang="en-US" sz="3000" u="none">
                <a:solidFill>
                  <a:schemeClr val="dk1"/>
                </a:solidFill>
                <a:latin typeface="Calibri"/>
                <a:ea typeface="Calibri"/>
                <a:cs typeface="Calibri"/>
                <a:sym typeface="Calibri"/>
              </a:rPr>
              <a:t>2. You can use Maven to easily build your project to a jar, war as per your requirements.</a:t>
            </a:r>
            <a:br>
              <a:rPr b="0" i="0" lang="en-US" sz="3000" u="none">
                <a:solidFill>
                  <a:schemeClr val="dk1"/>
                </a:solidFill>
                <a:latin typeface="Calibri"/>
                <a:ea typeface="Calibri"/>
                <a:cs typeface="Calibri"/>
                <a:sym typeface="Calibri"/>
              </a:rPr>
            </a:br>
            <a:r>
              <a:rPr b="0" i="0" lang="en-US" sz="3000" u="none">
                <a:solidFill>
                  <a:schemeClr val="dk1"/>
                </a:solidFill>
                <a:latin typeface="Calibri"/>
                <a:ea typeface="Calibri"/>
                <a:cs typeface="Calibri"/>
                <a:sym typeface="Calibri"/>
              </a:rPr>
              <a:t>3. You can easily add new dependencies by writing the dependency code in the pom file.</a:t>
            </a:r>
            <a:br>
              <a:rPr b="0" i="0" lang="en-US" sz="3000" u="none">
                <a:solidFill>
                  <a:schemeClr val="dk1"/>
                </a:solidFill>
                <a:latin typeface="Calibri"/>
                <a:ea typeface="Calibri"/>
                <a:cs typeface="Calibri"/>
                <a:sym typeface="Calibri"/>
              </a:rPr>
            </a:br>
            <a:r>
              <a:rPr b="0" i="0" lang="en-US" sz="3000" u="none">
                <a:solidFill>
                  <a:schemeClr val="dk1"/>
                </a:solidFill>
                <a:latin typeface="Calibri"/>
                <a:ea typeface="Calibri"/>
                <a:cs typeface="Calibri"/>
                <a:sym typeface="Calibri"/>
              </a:rPr>
              <a:t>Now, the disadvantages:</a:t>
            </a:r>
            <a:br>
              <a:rPr b="0" i="0" lang="en-US" sz="3000" u="none">
                <a:solidFill>
                  <a:schemeClr val="dk1"/>
                </a:solidFill>
                <a:latin typeface="Calibri"/>
                <a:ea typeface="Calibri"/>
                <a:cs typeface="Calibri"/>
                <a:sym typeface="Calibri"/>
              </a:rPr>
            </a:br>
            <a:r>
              <a:rPr b="0" i="0" lang="en-US" sz="3000" u="none">
                <a:solidFill>
                  <a:schemeClr val="dk1"/>
                </a:solidFill>
                <a:latin typeface="Calibri"/>
                <a:ea typeface="Calibri"/>
                <a:cs typeface="Calibri"/>
                <a:sym typeface="Calibri"/>
              </a:rPr>
              <a:t>1. If the maven code for an existing dependency is not available, then one cannot add that dependency.</a:t>
            </a:r>
            <a:br>
              <a:rPr b="0" i="0" lang="en-US" sz="3000" u="none">
                <a:solidFill>
                  <a:schemeClr val="dk1"/>
                </a:solidFill>
                <a:latin typeface="Calibri"/>
                <a:ea typeface="Calibri"/>
                <a:cs typeface="Calibri"/>
                <a:sym typeface="Calibri"/>
              </a:rPr>
            </a:br>
            <a:r>
              <a:rPr b="0" i="0" lang="en-US" sz="3000" u="none">
                <a:solidFill>
                  <a:schemeClr val="dk1"/>
                </a:solidFill>
                <a:latin typeface="Calibri"/>
                <a:ea typeface="Calibri"/>
                <a:cs typeface="Calibri"/>
                <a:sym typeface="Calibri"/>
              </a:rPr>
              <a:t>2. Maven installation along with plugins is a must.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Maven Repository:</a:t>
            </a:r>
            <a:br>
              <a:rPr b="0" i="0" lang="en-US" sz="4000" u="none">
                <a:solidFill>
                  <a:schemeClr val="dk1"/>
                </a:solidFill>
                <a:latin typeface="Calibri"/>
                <a:ea typeface="Calibri"/>
                <a:cs typeface="Calibri"/>
                <a:sym typeface="Calibri"/>
              </a:rPr>
            </a:br>
            <a:endParaRPr/>
          </a:p>
        </p:txBody>
      </p:sp>
      <p:sp>
        <p:nvSpPr>
          <p:cNvPr id="178" name="Google Shape;178;p2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700"/>
              <a:buFont typeface="Arial"/>
              <a:buChar char="•"/>
            </a:pPr>
            <a:r>
              <a:rPr b="0" i="0" lang="en-US" sz="2700" u="none">
                <a:solidFill>
                  <a:schemeClr val="dk1"/>
                </a:solidFill>
                <a:latin typeface="Calibri"/>
                <a:ea typeface="Calibri"/>
                <a:cs typeface="Calibri"/>
                <a:sym typeface="Calibri"/>
              </a:rPr>
              <a:t>A repository is simply a directory on your machine. The project jars, plugins or any other project-related materials are stored here.</a:t>
            </a:r>
            <a:br>
              <a:rPr b="0" i="0" lang="en-US" sz="2700" u="none">
                <a:solidFill>
                  <a:schemeClr val="dk1"/>
                </a:solidFill>
                <a:latin typeface="Calibri"/>
                <a:ea typeface="Calibri"/>
                <a:cs typeface="Calibri"/>
                <a:sym typeface="Calibri"/>
              </a:rPr>
            </a:br>
            <a:r>
              <a:rPr b="0" i="0" lang="en-US" sz="2700" u="none">
                <a:solidFill>
                  <a:schemeClr val="dk1"/>
                </a:solidFill>
                <a:latin typeface="Calibri"/>
                <a:ea typeface="Calibri"/>
                <a:cs typeface="Calibri"/>
                <a:sym typeface="Calibri"/>
              </a:rPr>
              <a:t>Let me elaborate on the different types of repositories.</a:t>
            </a:r>
            <a:br>
              <a:rPr b="0" i="0" lang="en-US" sz="2700" u="none">
                <a:solidFill>
                  <a:schemeClr val="dk1"/>
                </a:solidFill>
                <a:latin typeface="Calibri"/>
                <a:ea typeface="Calibri"/>
                <a:cs typeface="Calibri"/>
                <a:sym typeface="Calibri"/>
              </a:rPr>
            </a:br>
            <a:r>
              <a:rPr b="0" i="0" lang="en-US" sz="2700" u="none">
                <a:solidFill>
                  <a:schemeClr val="dk1"/>
                </a:solidFill>
                <a:latin typeface="Calibri"/>
                <a:ea typeface="Calibri"/>
                <a:cs typeface="Calibri"/>
                <a:sym typeface="Calibri"/>
              </a:rPr>
              <a:t>1. Local Repository</a:t>
            </a:r>
            <a:br>
              <a:rPr b="0" i="0" lang="en-US" sz="2700" u="none">
                <a:solidFill>
                  <a:schemeClr val="dk1"/>
                </a:solidFill>
                <a:latin typeface="Calibri"/>
                <a:ea typeface="Calibri"/>
                <a:cs typeface="Calibri"/>
                <a:sym typeface="Calibri"/>
              </a:rPr>
            </a:br>
            <a:r>
              <a:rPr b="0" i="0" lang="en-US" sz="2700" u="none">
                <a:solidFill>
                  <a:schemeClr val="dk1"/>
                </a:solidFill>
                <a:latin typeface="Calibri"/>
                <a:ea typeface="Calibri"/>
                <a:cs typeface="Calibri"/>
                <a:sym typeface="Calibri"/>
              </a:rPr>
              <a:t>2. Central Repository</a:t>
            </a:r>
            <a:br>
              <a:rPr b="0" i="0" lang="en-US" sz="2700" u="none">
                <a:solidFill>
                  <a:schemeClr val="dk1"/>
                </a:solidFill>
                <a:latin typeface="Calibri"/>
                <a:ea typeface="Calibri"/>
                <a:cs typeface="Calibri"/>
                <a:sym typeface="Calibri"/>
              </a:rPr>
            </a:br>
            <a:r>
              <a:rPr b="0" i="0" lang="en-US" sz="2700" u="none">
                <a:solidFill>
                  <a:schemeClr val="dk1"/>
                </a:solidFill>
                <a:latin typeface="Calibri"/>
                <a:ea typeface="Calibri"/>
                <a:cs typeface="Calibri"/>
                <a:sym typeface="Calibri"/>
              </a:rPr>
              <a:t>3. Remote Repository</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Calibri"/>
                <a:ea typeface="Calibri"/>
                <a:cs typeface="Calibri"/>
                <a:sym typeface="Calibri"/>
              </a:rPr>
              <a:t>Whenever any dependency has to be searched, it is done in repositories. Maven initializes its search from Local repository, then Central repository and finally in Remote repository.</a:t>
            </a:r>
            <a:endParaRPr/>
          </a:p>
          <a:p>
            <a:pPr indent="-171450" lvl="0" marL="342900" marR="0" rtl="0" algn="l">
              <a:spcBef>
                <a:spcPts val="540"/>
              </a:spcBef>
              <a:spcAft>
                <a:spcPts val="0"/>
              </a:spcAft>
              <a:buClr>
                <a:schemeClr val="dk1"/>
              </a:buClr>
              <a:buSzPts val="2700"/>
              <a:buFont typeface="Arial"/>
              <a:buNone/>
            </a:pPr>
            <a:r>
              <a:t/>
            </a:r>
            <a:endParaRPr b="0" i="0" sz="2700" u="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184" name="Google Shape;184;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2200"/>
              <a:buFont typeface="Arial"/>
              <a:buChar char="•"/>
            </a:pPr>
            <a:r>
              <a:rPr b="1" i="0" lang="en-US" sz="2200" u="none">
                <a:solidFill>
                  <a:schemeClr val="dk1"/>
                </a:solidFill>
                <a:latin typeface="Calibri"/>
                <a:ea typeface="Calibri"/>
                <a:cs typeface="Calibri"/>
                <a:sym typeface="Calibri"/>
              </a:rPr>
              <a:t>Local Repository:</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The local repository of Maven is a folder location on your machine, where all the project related elements are stored. As soon as the Maven build is executed, Maven automatically downloads all the dependency jars into the local repository.</a:t>
            </a:r>
            <a:br>
              <a:rPr b="0" i="0" lang="en-US" sz="2200" u="none">
                <a:solidFill>
                  <a:schemeClr val="dk1"/>
                </a:solidFill>
                <a:latin typeface="Calibri"/>
                <a:ea typeface="Calibri"/>
                <a:cs typeface="Calibri"/>
                <a:sym typeface="Calibri"/>
              </a:rPr>
            </a:br>
            <a:r>
              <a:rPr b="0" i="0" lang="en-US" sz="2200" u="none">
                <a:solidFill>
                  <a:schemeClr val="dk1"/>
                </a:solidFill>
                <a:latin typeface="Calibri"/>
                <a:ea typeface="Calibri"/>
                <a:cs typeface="Calibri"/>
                <a:sym typeface="Calibri"/>
              </a:rPr>
              <a:t>By default, maven local repository is user_home/m2 directory.</a:t>
            </a:r>
            <a:endParaRPr/>
          </a:p>
          <a:p>
            <a:pPr indent="-342900" lvl="0" marL="342900" marR="0" rtl="0" algn="l">
              <a:lnSpc>
                <a:spcPct val="80000"/>
              </a:lnSpc>
              <a:spcBef>
                <a:spcPts val="440"/>
              </a:spcBef>
              <a:spcAft>
                <a:spcPts val="0"/>
              </a:spcAft>
              <a:buClr>
                <a:schemeClr val="dk1"/>
              </a:buClr>
              <a:buSzPts val="2200"/>
              <a:buFont typeface="Arial"/>
              <a:buChar char="•"/>
            </a:pPr>
            <a:r>
              <a:rPr b="1" i="0" lang="en-US" sz="2200" u="none">
                <a:solidFill>
                  <a:schemeClr val="dk1"/>
                </a:solidFill>
                <a:latin typeface="Calibri"/>
                <a:ea typeface="Calibri"/>
                <a:cs typeface="Calibri"/>
                <a:sym typeface="Calibri"/>
              </a:rPr>
              <a:t>Central Repository:</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If any dependency is not found in the local repository, then Maven traverses the central repository. Maven then downloads these dependencies in your local repository.</a:t>
            </a:r>
            <a:endParaRPr/>
          </a:p>
          <a:p>
            <a:pPr indent="-342900" lvl="0" marL="342900" marR="0" rtl="0" algn="l">
              <a:lnSpc>
                <a:spcPct val="80000"/>
              </a:lnSpc>
              <a:spcBef>
                <a:spcPts val="440"/>
              </a:spcBef>
              <a:spcAft>
                <a:spcPts val="0"/>
              </a:spcAft>
              <a:buClr>
                <a:schemeClr val="dk1"/>
              </a:buClr>
              <a:buSzPts val="2200"/>
              <a:buFont typeface="Arial"/>
              <a:buChar char="•"/>
            </a:pPr>
            <a:r>
              <a:rPr b="1" i="0" lang="en-US" sz="2200" u="none">
                <a:solidFill>
                  <a:schemeClr val="dk1"/>
                </a:solidFill>
                <a:latin typeface="Calibri"/>
                <a:ea typeface="Calibri"/>
                <a:cs typeface="Calibri"/>
                <a:sym typeface="Calibri"/>
              </a:rPr>
              <a:t>Remote Repository:</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When Maven wants to download dependency, it goes to a remote repository. A remote repository is a repository present on a web server and is widely used to host the internal projects of an organization.</a:t>
            </a:r>
            <a:endParaRPr/>
          </a:p>
          <a:p>
            <a:pPr indent="-203200" lvl="0" marL="342900" marR="0" rtl="0" algn="l">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Maven pom.xml file</a:t>
            </a:r>
            <a:r>
              <a:rPr b="0" i="0" lang="en-US" sz="4000" u="none">
                <a:solidFill>
                  <a:schemeClr val="dk1"/>
                </a:solidFill>
                <a:latin typeface="Calibri"/>
                <a:ea typeface="Calibri"/>
                <a:cs typeface="Calibri"/>
                <a:sym typeface="Calibri"/>
              </a:rPr>
              <a:t>:</a:t>
            </a:r>
            <a:br>
              <a:rPr b="0" i="0" lang="en-US" sz="4000" u="none">
                <a:solidFill>
                  <a:schemeClr val="dk1"/>
                </a:solidFill>
                <a:latin typeface="Calibri"/>
                <a:ea typeface="Calibri"/>
                <a:cs typeface="Calibri"/>
                <a:sym typeface="Calibri"/>
              </a:rPr>
            </a:br>
            <a:endParaRPr/>
          </a:p>
        </p:txBody>
      </p:sp>
      <p:sp>
        <p:nvSpPr>
          <p:cNvPr id="190" name="Google Shape;190;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POM stands for Project Object Model. The pom.xml file contains information about the project and configuration information to build the project. </a:t>
            </a:r>
            <a:endParaRPr/>
          </a:p>
          <a:p>
            <a:pPr indent="-342900" lvl="0" marL="342900" marR="0" rtl="0" algn="l">
              <a:lnSpc>
                <a:spcPct val="80000"/>
              </a:lnSpc>
              <a:spcBef>
                <a:spcPts val="60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It contains dependencies, build directory, source directory, test source directory, plugin, etc.</a:t>
            </a:r>
            <a:br>
              <a:rPr b="0" i="0" lang="en-US" sz="3000" u="none">
                <a:solidFill>
                  <a:schemeClr val="dk1"/>
                </a:solidFill>
                <a:latin typeface="Calibri"/>
                <a:ea typeface="Calibri"/>
                <a:cs typeface="Calibri"/>
                <a:sym typeface="Calibri"/>
              </a:rPr>
            </a:br>
            <a:r>
              <a:rPr b="0" i="0" lang="en-US" sz="3000" u="none">
                <a:solidFill>
                  <a:schemeClr val="dk1"/>
                </a:solidFill>
                <a:latin typeface="Calibri"/>
                <a:ea typeface="Calibri"/>
                <a:cs typeface="Calibri"/>
                <a:sym typeface="Calibri"/>
              </a:rPr>
              <a:t>Maven goes through the pom.xml file, then executes the goal.</a:t>
            </a:r>
            <a:br>
              <a:rPr b="0" i="0" lang="en-US" sz="3000" u="none">
                <a:solidFill>
                  <a:schemeClr val="dk1"/>
                </a:solidFill>
                <a:latin typeface="Calibri"/>
                <a:ea typeface="Calibri"/>
                <a:cs typeface="Calibri"/>
                <a:sym typeface="Calibri"/>
              </a:rPr>
            </a:br>
            <a:endParaRPr/>
          </a:p>
          <a:p>
            <a:pPr indent="-342900" lvl="0" marL="342900" marR="0" rtl="0" algn="l">
              <a:lnSpc>
                <a:spcPct val="80000"/>
              </a:lnSpc>
              <a:spcBef>
                <a:spcPts val="60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For the creation of a simple pom.xml file, you must need the following elements: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196" name="Google Shape;196;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700"/>
              <a:buFont typeface="Arial"/>
              <a:buChar char="•"/>
            </a:pPr>
            <a:r>
              <a:rPr b="1" i="0" lang="en-US" sz="2700" u="none">
                <a:solidFill>
                  <a:schemeClr val="dk1"/>
                </a:solidFill>
                <a:latin typeface="Calibri"/>
                <a:ea typeface="Calibri"/>
                <a:cs typeface="Calibri"/>
                <a:sym typeface="Calibri"/>
              </a:rPr>
              <a:t>project :</a:t>
            </a:r>
            <a:r>
              <a:rPr b="0" i="0" lang="en-US" sz="2700" u="none">
                <a:solidFill>
                  <a:schemeClr val="dk1"/>
                </a:solidFill>
                <a:latin typeface="Calibri"/>
                <a:ea typeface="Calibri"/>
                <a:cs typeface="Calibri"/>
                <a:sym typeface="Calibri"/>
              </a:rPr>
              <a:t> Root element of a pom.xml file.</a:t>
            </a:r>
            <a:endParaRPr/>
          </a:p>
          <a:p>
            <a:pPr indent="-342900" lvl="0" marL="342900" marR="0" rtl="0" algn="l">
              <a:lnSpc>
                <a:spcPct val="90000"/>
              </a:lnSpc>
              <a:spcBef>
                <a:spcPts val="540"/>
              </a:spcBef>
              <a:spcAft>
                <a:spcPts val="0"/>
              </a:spcAft>
              <a:buClr>
                <a:schemeClr val="dk1"/>
              </a:buClr>
              <a:buSzPts val="2700"/>
              <a:buFont typeface="Arial"/>
              <a:buChar char="•"/>
            </a:pPr>
            <a:r>
              <a:rPr b="1" i="0" lang="en-US" sz="2700" u="none">
                <a:solidFill>
                  <a:schemeClr val="dk1"/>
                </a:solidFill>
                <a:latin typeface="Calibri"/>
                <a:ea typeface="Calibri"/>
                <a:cs typeface="Calibri"/>
                <a:sym typeface="Calibri"/>
              </a:rPr>
              <a:t>groupId:</a:t>
            </a:r>
            <a:r>
              <a:rPr b="0" i="0" lang="en-US" sz="2700" u="none">
                <a:solidFill>
                  <a:schemeClr val="dk1"/>
                </a:solidFill>
                <a:latin typeface="Calibri"/>
                <a:ea typeface="Calibri"/>
                <a:cs typeface="Calibri"/>
                <a:sym typeface="Calibri"/>
              </a:rPr>
              <a:t> Sub element of the project. It describes the Id for the project.</a:t>
            </a:r>
            <a:endParaRPr/>
          </a:p>
          <a:p>
            <a:pPr indent="-342900" lvl="0" marL="342900" marR="0" rtl="0" algn="l">
              <a:lnSpc>
                <a:spcPct val="90000"/>
              </a:lnSpc>
              <a:spcBef>
                <a:spcPts val="540"/>
              </a:spcBef>
              <a:spcAft>
                <a:spcPts val="0"/>
              </a:spcAft>
              <a:buClr>
                <a:schemeClr val="dk1"/>
              </a:buClr>
              <a:buSzPts val="2700"/>
              <a:buFont typeface="Arial"/>
              <a:buChar char="•"/>
            </a:pPr>
            <a:r>
              <a:rPr b="1" i="0" lang="en-US" sz="2700" u="none">
                <a:solidFill>
                  <a:schemeClr val="dk1"/>
                </a:solidFill>
                <a:latin typeface="Calibri"/>
                <a:ea typeface="Calibri"/>
                <a:cs typeface="Calibri"/>
                <a:sym typeface="Calibri"/>
              </a:rPr>
              <a:t>modelVersion:</a:t>
            </a:r>
            <a:r>
              <a:rPr b="0" i="0" lang="en-US" sz="2700" u="none">
                <a:solidFill>
                  <a:schemeClr val="dk1"/>
                </a:solidFill>
                <a:latin typeface="Calibri"/>
                <a:ea typeface="Calibri"/>
                <a:cs typeface="Calibri"/>
                <a:sym typeface="Calibri"/>
              </a:rPr>
              <a:t> Sub element of the project. It tells you the model version.</a:t>
            </a:r>
            <a:endParaRPr/>
          </a:p>
          <a:p>
            <a:pPr indent="-342900" lvl="0" marL="342900" marR="0" rtl="0" algn="l">
              <a:lnSpc>
                <a:spcPct val="90000"/>
              </a:lnSpc>
              <a:spcBef>
                <a:spcPts val="540"/>
              </a:spcBef>
              <a:spcAft>
                <a:spcPts val="0"/>
              </a:spcAft>
              <a:buClr>
                <a:schemeClr val="dk1"/>
              </a:buClr>
              <a:buSzPts val="2700"/>
              <a:buFont typeface="Arial"/>
              <a:buChar char="•"/>
            </a:pPr>
            <a:r>
              <a:rPr b="1" i="0" lang="en-US" sz="2700" u="none">
                <a:solidFill>
                  <a:schemeClr val="dk1"/>
                </a:solidFill>
                <a:latin typeface="Calibri"/>
                <a:ea typeface="Calibri"/>
                <a:cs typeface="Calibri"/>
                <a:sym typeface="Calibri"/>
              </a:rPr>
              <a:t>artifactId:</a:t>
            </a:r>
            <a:r>
              <a:rPr b="0" i="0" lang="en-US" sz="2700" u="none">
                <a:solidFill>
                  <a:schemeClr val="dk1"/>
                </a:solidFill>
                <a:latin typeface="Calibri"/>
                <a:ea typeface="Calibri"/>
                <a:cs typeface="Calibri"/>
                <a:sym typeface="Calibri"/>
              </a:rPr>
              <a:t> Sub element of the project. It specifies the id for the project. An artifact is either produced or used by a project. Examples of artifacts: JARs, source and binary distributions, and WARs.</a:t>
            </a:r>
            <a:endParaRPr/>
          </a:p>
          <a:p>
            <a:pPr indent="-342900" lvl="0" marL="342900" marR="0" rtl="0" algn="l">
              <a:lnSpc>
                <a:spcPct val="90000"/>
              </a:lnSpc>
              <a:spcBef>
                <a:spcPts val="540"/>
              </a:spcBef>
              <a:spcAft>
                <a:spcPts val="0"/>
              </a:spcAft>
              <a:buClr>
                <a:schemeClr val="dk1"/>
              </a:buClr>
              <a:buSzPts val="2700"/>
              <a:buFont typeface="Arial"/>
              <a:buChar char="•"/>
            </a:pPr>
            <a:r>
              <a:rPr b="1" i="0" lang="en-US" sz="2700" u="none">
                <a:solidFill>
                  <a:schemeClr val="dk1"/>
                </a:solidFill>
                <a:latin typeface="Calibri"/>
                <a:ea typeface="Calibri"/>
                <a:cs typeface="Calibri"/>
                <a:sym typeface="Calibri"/>
              </a:rPr>
              <a:t>Version:</a:t>
            </a:r>
            <a:r>
              <a:rPr b="0" i="0" lang="en-US" sz="2700" u="none">
                <a:solidFill>
                  <a:schemeClr val="dk1"/>
                </a:solidFill>
                <a:latin typeface="Calibri"/>
                <a:ea typeface="Calibri"/>
                <a:cs typeface="Calibri"/>
                <a:sym typeface="Calibri"/>
              </a:rPr>
              <a:t> Sub element of the project. It tells you the version of the artifact under given group.</a:t>
            </a:r>
            <a:endParaRPr/>
          </a:p>
          <a:p>
            <a:pPr indent="-171450" lvl="0" marL="342900" marR="0" rtl="0" algn="l">
              <a:spcBef>
                <a:spcPts val="540"/>
              </a:spcBef>
              <a:spcAft>
                <a:spcPts val="0"/>
              </a:spcAft>
              <a:buClr>
                <a:schemeClr val="dk1"/>
              </a:buClr>
              <a:buSzPts val="2700"/>
              <a:buFont typeface="Arial"/>
              <a:buNone/>
            </a:pPr>
            <a:r>
              <a:t/>
            </a:r>
            <a:endParaRPr b="0" i="0" sz="2700" u="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202" name="Google Shape;202;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000"/>
              <a:buFont typeface="Arial"/>
              <a:buChar char="•"/>
            </a:pPr>
            <a:r>
              <a:rPr b="0" i="0" lang="en-US" sz="3000" u="none">
                <a:solidFill>
                  <a:schemeClr val="dk1"/>
                </a:solidFill>
                <a:latin typeface="Calibri"/>
                <a:ea typeface="Calibri"/>
                <a:cs typeface="Calibri"/>
                <a:sym typeface="Calibri"/>
              </a:rPr>
              <a:t>There are some additional elements in pom.xml file:</a:t>
            </a:r>
            <a:br>
              <a:rPr b="0" i="0" lang="en-US" sz="3000" u="none">
                <a:solidFill>
                  <a:schemeClr val="dk1"/>
                </a:solidFill>
                <a:latin typeface="Calibri"/>
                <a:ea typeface="Calibri"/>
                <a:cs typeface="Calibri"/>
                <a:sym typeface="Calibri"/>
              </a:rPr>
            </a:br>
            <a:r>
              <a:rPr b="1" i="0" lang="en-US" sz="3000" u="none">
                <a:solidFill>
                  <a:schemeClr val="dk1"/>
                </a:solidFill>
                <a:latin typeface="Calibri"/>
                <a:ea typeface="Calibri"/>
                <a:cs typeface="Calibri"/>
                <a:sym typeface="Calibri"/>
              </a:rPr>
              <a:t>Packaging:</a:t>
            </a:r>
            <a:r>
              <a:rPr b="0" i="0" lang="en-US" sz="3000" u="none">
                <a:solidFill>
                  <a:schemeClr val="dk1"/>
                </a:solidFill>
                <a:latin typeface="Calibri"/>
                <a:ea typeface="Calibri"/>
                <a:cs typeface="Calibri"/>
                <a:sym typeface="Calibri"/>
              </a:rPr>
              <a:t> defines the packaging type such as war, jar etc.</a:t>
            </a:r>
            <a:endParaRPr/>
          </a:p>
          <a:p>
            <a:pPr indent="-342900" lvl="0" marL="342900" marR="0" rtl="0" algn="l">
              <a:lnSpc>
                <a:spcPct val="90000"/>
              </a:lnSpc>
              <a:spcBef>
                <a:spcPts val="600"/>
              </a:spcBef>
              <a:spcAft>
                <a:spcPts val="0"/>
              </a:spcAft>
              <a:buClr>
                <a:schemeClr val="dk1"/>
              </a:buClr>
              <a:buSzPts val="3000"/>
              <a:buFont typeface="Arial"/>
              <a:buChar char="•"/>
            </a:pPr>
            <a:r>
              <a:rPr b="1" i="0" lang="en-US" sz="3000" u="none">
                <a:solidFill>
                  <a:schemeClr val="dk1"/>
                </a:solidFill>
                <a:latin typeface="Calibri"/>
                <a:ea typeface="Calibri"/>
                <a:cs typeface="Calibri"/>
                <a:sym typeface="Calibri"/>
              </a:rPr>
              <a:t>Scope:</a:t>
            </a:r>
            <a:r>
              <a:rPr b="0" i="0" lang="en-US" sz="3000" u="none">
                <a:solidFill>
                  <a:schemeClr val="dk1"/>
                </a:solidFill>
                <a:latin typeface="Calibri"/>
                <a:ea typeface="Calibri"/>
                <a:cs typeface="Calibri"/>
                <a:sym typeface="Calibri"/>
              </a:rPr>
              <a:t> defines the scope for the maven project.</a:t>
            </a:r>
            <a:endParaRPr/>
          </a:p>
          <a:p>
            <a:pPr indent="-342900" lvl="0" marL="342900" marR="0" rtl="0" algn="l">
              <a:lnSpc>
                <a:spcPct val="90000"/>
              </a:lnSpc>
              <a:spcBef>
                <a:spcPts val="600"/>
              </a:spcBef>
              <a:spcAft>
                <a:spcPts val="0"/>
              </a:spcAft>
              <a:buClr>
                <a:schemeClr val="dk1"/>
              </a:buClr>
              <a:buSzPts val="3000"/>
              <a:buFont typeface="Arial"/>
              <a:buChar char="•"/>
            </a:pPr>
            <a:r>
              <a:rPr b="1" i="0" lang="en-US" sz="3000" u="none">
                <a:solidFill>
                  <a:schemeClr val="dk1"/>
                </a:solidFill>
                <a:latin typeface="Calibri"/>
                <a:ea typeface="Calibri"/>
                <a:cs typeface="Calibri"/>
                <a:sym typeface="Calibri"/>
              </a:rPr>
              <a:t>Url:</a:t>
            </a:r>
            <a:r>
              <a:rPr b="0" i="0" lang="en-US" sz="3000" u="none">
                <a:solidFill>
                  <a:schemeClr val="dk1"/>
                </a:solidFill>
                <a:latin typeface="Calibri"/>
                <a:ea typeface="Calibri"/>
                <a:cs typeface="Calibri"/>
                <a:sym typeface="Calibri"/>
              </a:rPr>
              <a:t> specifies the URL of the project.</a:t>
            </a:r>
            <a:endParaRPr/>
          </a:p>
          <a:p>
            <a:pPr indent="-342900" lvl="0" marL="342900" marR="0" rtl="0" algn="l">
              <a:lnSpc>
                <a:spcPct val="90000"/>
              </a:lnSpc>
              <a:spcBef>
                <a:spcPts val="600"/>
              </a:spcBef>
              <a:spcAft>
                <a:spcPts val="0"/>
              </a:spcAft>
              <a:buClr>
                <a:schemeClr val="dk1"/>
              </a:buClr>
              <a:buSzPts val="3000"/>
              <a:buFont typeface="Arial"/>
              <a:buChar char="•"/>
            </a:pPr>
            <a:r>
              <a:rPr b="1" i="0" lang="en-US" sz="3000" u="none">
                <a:solidFill>
                  <a:schemeClr val="dk1"/>
                </a:solidFill>
                <a:latin typeface="Calibri"/>
                <a:ea typeface="Calibri"/>
                <a:cs typeface="Calibri"/>
                <a:sym typeface="Calibri"/>
              </a:rPr>
              <a:t>Name:</a:t>
            </a:r>
            <a:r>
              <a:rPr b="0" i="0" lang="en-US" sz="3000" u="none">
                <a:solidFill>
                  <a:schemeClr val="dk1"/>
                </a:solidFill>
                <a:latin typeface="Calibri"/>
                <a:ea typeface="Calibri"/>
                <a:cs typeface="Calibri"/>
                <a:sym typeface="Calibri"/>
              </a:rPr>
              <a:t> defines the name of the maven project.</a:t>
            </a:r>
            <a:endParaRPr/>
          </a:p>
          <a:p>
            <a:pPr indent="-342900" lvl="0" marL="342900" marR="0" rtl="0" algn="l">
              <a:lnSpc>
                <a:spcPct val="90000"/>
              </a:lnSpc>
              <a:spcBef>
                <a:spcPts val="600"/>
              </a:spcBef>
              <a:spcAft>
                <a:spcPts val="0"/>
              </a:spcAft>
              <a:buClr>
                <a:schemeClr val="dk1"/>
              </a:buClr>
              <a:buSzPts val="3000"/>
              <a:buFont typeface="Arial"/>
              <a:buChar char="•"/>
            </a:pPr>
            <a:r>
              <a:rPr b="1" i="0" lang="en-US" sz="3000" u="none">
                <a:solidFill>
                  <a:schemeClr val="dk1"/>
                </a:solidFill>
                <a:latin typeface="Calibri"/>
                <a:ea typeface="Calibri"/>
                <a:cs typeface="Calibri"/>
                <a:sym typeface="Calibri"/>
              </a:rPr>
              <a:t>Dependency</a:t>
            </a:r>
            <a:r>
              <a:rPr b="0" i="0" lang="en-US" sz="3000" u="none">
                <a:solidFill>
                  <a:schemeClr val="dk1"/>
                </a:solidFill>
                <a:latin typeface="Calibri"/>
                <a:ea typeface="Calibri"/>
                <a:cs typeface="Calibri"/>
                <a:sym typeface="Calibri"/>
              </a:rPr>
              <a:t>: defines a dependency. It is used inside dependencies.</a:t>
            </a:r>
            <a:endParaRPr/>
          </a:p>
          <a:p>
            <a:pPr indent="-152400" lvl="0" marL="342900" marR="0" rtl="0" algn="l">
              <a:spcBef>
                <a:spcPts val="600"/>
              </a:spcBef>
              <a:spcAft>
                <a:spcPts val="0"/>
              </a:spcAft>
              <a:buClr>
                <a:schemeClr val="dk1"/>
              </a:buClr>
              <a:buSzPts val="3000"/>
              <a:buFont typeface="Arial"/>
              <a:buNone/>
            </a:pPr>
            <a:r>
              <a:t/>
            </a:r>
            <a:endParaRPr b="0" i="0" sz="3000" u="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Demo</a:t>
            </a:r>
            <a:endParaRPr/>
          </a:p>
        </p:txBody>
      </p:sp>
      <p:sp>
        <p:nvSpPr>
          <p:cNvPr id="208" name="Google Shape;208;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2700"/>
              <a:buFont typeface="Arial"/>
              <a:buChar char="•"/>
            </a:pPr>
            <a:r>
              <a:rPr b="0" i="0" lang="en-US" sz="2700" u="none">
                <a:solidFill>
                  <a:schemeClr val="dk1"/>
                </a:solidFill>
                <a:latin typeface="Calibri"/>
                <a:ea typeface="Calibri"/>
                <a:cs typeface="Calibri"/>
                <a:sym typeface="Calibri"/>
              </a:rPr>
              <a:t>1] Downwload and install JDK</a:t>
            </a:r>
            <a:endParaRPr/>
          </a:p>
          <a:p>
            <a:pPr indent="-171450" lvl="0" marL="342900" marR="0" rtl="0" algn="l">
              <a:lnSpc>
                <a:spcPct val="80000"/>
              </a:lnSpc>
              <a:spcBef>
                <a:spcPts val="540"/>
              </a:spcBef>
              <a:spcAft>
                <a:spcPts val="0"/>
              </a:spcAft>
              <a:buClr>
                <a:schemeClr val="dk1"/>
              </a:buClr>
              <a:buSzPts val="2700"/>
              <a:buFont typeface="Arial"/>
              <a:buNone/>
            </a:pPr>
            <a:r>
              <a:t/>
            </a:r>
            <a:endParaRPr b="0" i="0" sz="2700" u="none">
              <a:solidFill>
                <a:schemeClr val="dk1"/>
              </a:solidFill>
              <a:latin typeface="Calibri"/>
              <a:ea typeface="Calibri"/>
              <a:cs typeface="Calibri"/>
              <a:sym typeface="Calibri"/>
            </a:endParaRPr>
          </a:p>
          <a:p>
            <a:pPr indent="-342900" lvl="0" marL="34290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Calibri"/>
                <a:ea typeface="Calibri"/>
                <a:cs typeface="Calibri"/>
                <a:sym typeface="Calibri"/>
              </a:rPr>
              <a:t>2] Set JAVA_HOME and Path upto bin folder in Environmental Variables</a:t>
            </a:r>
            <a:endParaRPr/>
          </a:p>
          <a:p>
            <a:pPr indent="-171450" lvl="0" marL="342900" marR="0" rtl="0" algn="l">
              <a:lnSpc>
                <a:spcPct val="80000"/>
              </a:lnSpc>
              <a:spcBef>
                <a:spcPts val="540"/>
              </a:spcBef>
              <a:spcAft>
                <a:spcPts val="0"/>
              </a:spcAft>
              <a:buClr>
                <a:schemeClr val="dk1"/>
              </a:buClr>
              <a:buSzPts val="2700"/>
              <a:buFont typeface="Arial"/>
              <a:buNone/>
            </a:pPr>
            <a:r>
              <a:t/>
            </a:r>
            <a:endParaRPr b="0" i="0" sz="2700" u="none">
              <a:solidFill>
                <a:schemeClr val="dk1"/>
              </a:solidFill>
              <a:latin typeface="Calibri"/>
              <a:ea typeface="Calibri"/>
              <a:cs typeface="Calibri"/>
              <a:sym typeface="Calibri"/>
            </a:endParaRPr>
          </a:p>
          <a:p>
            <a:pPr indent="-342900" lvl="0" marL="34290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Calibri"/>
                <a:ea typeface="Calibri"/>
                <a:cs typeface="Calibri"/>
                <a:sym typeface="Calibri"/>
              </a:rPr>
              <a:t>3] Download Maven </a:t>
            </a:r>
            <a:endParaRPr/>
          </a:p>
          <a:p>
            <a:pPr indent="-171450" lvl="0" marL="342900" marR="0" rtl="0" algn="l">
              <a:lnSpc>
                <a:spcPct val="80000"/>
              </a:lnSpc>
              <a:spcBef>
                <a:spcPts val="540"/>
              </a:spcBef>
              <a:spcAft>
                <a:spcPts val="0"/>
              </a:spcAft>
              <a:buClr>
                <a:schemeClr val="dk1"/>
              </a:buClr>
              <a:buSzPts val="2700"/>
              <a:buFont typeface="Arial"/>
              <a:buNone/>
            </a:pPr>
            <a:r>
              <a:t/>
            </a:r>
            <a:endParaRPr b="0" i="0" sz="2700" u="none">
              <a:solidFill>
                <a:schemeClr val="dk1"/>
              </a:solidFill>
              <a:latin typeface="Calibri"/>
              <a:ea typeface="Calibri"/>
              <a:cs typeface="Calibri"/>
              <a:sym typeface="Calibri"/>
            </a:endParaRPr>
          </a:p>
          <a:p>
            <a:pPr indent="-342900" lvl="0" marL="34290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Calibri"/>
                <a:ea typeface="Calibri"/>
                <a:cs typeface="Calibri"/>
                <a:sym typeface="Calibri"/>
              </a:rPr>
              <a:t>4] Set MAVEN_HOME and Path upto bin folder in Environmental Variables</a:t>
            </a:r>
            <a:endParaRPr/>
          </a:p>
          <a:p>
            <a:pPr indent="-171450" lvl="0" marL="342900" marR="0" rtl="0" algn="l">
              <a:lnSpc>
                <a:spcPct val="80000"/>
              </a:lnSpc>
              <a:spcBef>
                <a:spcPts val="540"/>
              </a:spcBef>
              <a:spcAft>
                <a:spcPts val="0"/>
              </a:spcAft>
              <a:buClr>
                <a:schemeClr val="dk1"/>
              </a:buClr>
              <a:buSzPts val="2700"/>
              <a:buFont typeface="Arial"/>
              <a:buNone/>
            </a:pPr>
            <a:r>
              <a:t/>
            </a:r>
            <a:endParaRPr b="0" i="0" sz="2700" u="none">
              <a:solidFill>
                <a:schemeClr val="dk1"/>
              </a:solidFill>
              <a:latin typeface="Calibri"/>
              <a:ea typeface="Calibri"/>
              <a:cs typeface="Calibri"/>
              <a:sym typeface="Calibri"/>
            </a:endParaRPr>
          </a:p>
          <a:p>
            <a:pPr indent="-342900" lvl="0" marL="34290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Calibri"/>
                <a:ea typeface="Calibri"/>
                <a:cs typeface="Calibri"/>
                <a:sym typeface="Calibri"/>
              </a:rPr>
              <a:t>5] Verify versions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215" name="Google Shape;215;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6] Create Maven Project with maven commands--</a:t>
            </a:r>
            <a:endParaRPr/>
          </a:p>
          <a:p>
            <a:pPr indent="-203200" lvl="0" marL="342900" marR="0" rtl="0" algn="l">
              <a:lnSpc>
                <a:spcPct val="80000"/>
              </a:lnSpc>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 -- Open cmd prompt</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 -- Create a directory</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 - Run command-</a:t>
            </a:r>
            <a:endParaRPr/>
          </a:p>
          <a:p>
            <a:pPr indent="-203200" lvl="0" marL="342900" marR="0" rtl="0" algn="l">
              <a:lnSpc>
                <a:spcPct val="80000"/>
              </a:lnSpc>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mvn archetype:generate </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  -DgroupId=&lt;Package Name&gt;</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 -DartifactId=&lt;Project Name&gt;</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 -DarchetypeArtifactId=maven-archetype-quickstart </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 -DarchetypeVersion=1.0 </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-DinteractiveMode=false</a:t>
            </a:r>
            <a:endParaRPr/>
          </a:p>
          <a:p>
            <a:pPr indent="-203200" lvl="0" marL="342900" marR="0" rtl="0" algn="l">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222" name="Google Shape;222;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Run tests with </a:t>
            </a:r>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mvn test </a:t>
            </a:r>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 Build project with</a:t>
            </a:r>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mvn package</a:t>
            </a:r>
            <a:endParaRPr/>
          </a:p>
          <a:p>
            <a:pPr indent="-139700" lvl="0" marL="342900" marR="0" rtl="0" algn="l">
              <a:lnSpc>
                <a:spcPct val="9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Run App.java using that JAR file</a:t>
            </a:r>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java -cp target/INT331-1.0-SNAPSHOT.jar qa.automation.App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graphicFrame>
        <p:nvGraphicFramePr>
          <p:cNvPr id="229" name="Google Shape;229;p35"/>
          <p:cNvGraphicFramePr/>
          <p:nvPr/>
        </p:nvGraphicFramePr>
        <p:xfrm>
          <a:off x="457200" y="2843212"/>
          <a:ext cx="3000000" cy="3000000"/>
        </p:xfrm>
        <a:graphic>
          <a:graphicData uri="http://schemas.openxmlformats.org/drawingml/2006/table">
            <a:tbl>
              <a:tblPr>
                <a:noFill/>
                <a:tableStyleId>{1DF7EA56-1CDD-4098-9BB1-FF2BFE7FE1F8}</a:tableStyleId>
              </a:tblPr>
              <a:tblGrid>
                <a:gridCol w="4114800"/>
                <a:gridCol w="4114800"/>
              </a:tblGrid>
              <a:tr h="339725">
                <a:tc>
                  <a:txBody>
                    <a:bodyPr/>
                    <a:lstStyle/>
                    <a:p>
                      <a:pPr indent="0" lvl="0" marL="0" marR="0" rtl="0" algn="l">
                        <a:lnSpc>
                          <a:spcPct val="100000"/>
                        </a:lnSpc>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Module</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Description</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339725">
                <a:tc>
                  <a:txBody>
                    <a:bodyPr/>
                    <a:lstStyle/>
                    <a:p>
                      <a:pPr indent="0" lvl="0" marL="0" marR="0" rtl="0" algn="l">
                        <a:lnSpc>
                          <a:spcPct val="100000"/>
                        </a:lnSpc>
                        <a:spcBef>
                          <a:spcPts val="0"/>
                        </a:spcBef>
                        <a:spcAft>
                          <a:spcPts val="0"/>
                        </a:spcAft>
                        <a:buClr>
                          <a:srgbClr val="0088CC"/>
                        </a:buClr>
                        <a:buSzPts val="1400"/>
                        <a:buFont typeface="Calibri"/>
                        <a:buNone/>
                      </a:pPr>
                      <a:r>
                        <a:rPr b="1" i="0" lang="en-US" sz="1400" u="sng" cap="none" strike="noStrike">
                          <a:solidFill>
                            <a:schemeClr val="hlink"/>
                          </a:solidFill>
                          <a:hlinkClick r:id="rId3"/>
                        </a:rPr>
                        <a:t>maven-archetype-plugin</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Archetype Plugin to use archetypes with Maven,</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339725">
                <a:tc>
                  <a:txBody>
                    <a:bodyPr/>
                    <a:lstStyle/>
                    <a:p>
                      <a:pPr indent="0" lvl="0" marL="0" marR="0" rtl="0" algn="l">
                        <a:lnSpc>
                          <a:spcPct val="100000"/>
                        </a:lnSpc>
                        <a:spcBef>
                          <a:spcPts val="0"/>
                        </a:spcBef>
                        <a:spcAft>
                          <a:spcPts val="0"/>
                        </a:spcAft>
                        <a:buClr>
                          <a:srgbClr val="0088CC"/>
                        </a:buClr>
                        <a:buSzPts val="1400"/>
                        <a:buFont typeface="Calibri"/>
                        <a:buNone/>
                      </a:pPr>
                      <a:r>
                        <a:rPr b="0" i="0" lang="en-US" sz="1400" u="sng" cap="none" strike="noStrike">
                          <a:solidFill>
                            <a:schemeClr val="hlink"/>
                          </a:solidFill>
                          <a:hlinkClick r:id="rId4"/>
                        </a:rPr>
                        <a:t>archetype-packaging</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Archetype lifecycle and packaging definition,</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339725">
                <a:tc>
                  <a:txBody>
                    <a:bodyPr/>
                    <a:lstStyle/>
                    <a:p>
                      <a:pPr indent="0" lvl="0" marL="0" marR="0" rtl="0" algn="l">
                        <a:lnSpc>
                          <a:spcPct val="100000"/>
                        </a:lnSpc>
                        <a:spcBef>
                          <a:spcPts val="0"/>
                        </a:spcBef>
                        <a:spcAft>
                          <a:spcPts val="0"/>
                        </a:spcAft>
                        <a:buClr>
                          <a:srgbClr val="0088CC"/>
                        </a:buClr>
                        <a:buSzPts val="1400"/>
                        <a:buFont typeface="Calibri"/>
                        <a:buNone/>
                      </a:pPr>
                      <a:r>
                        <a:rPr b="0" i="0" lang="en-US" sz="1400" u="sng" cap="none" strike="noStrike">
                          <a:solidFill>
                            <a:schemeClr val="hlink"/>
                          </a:solidFill>
                          <a:hlinkClick r:id="rId5"/>
                        </a:rPr>
                        <a:t>archetype-models</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Descriptors classes and reference documentation,</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339725">
                <a:tc>
                  <a:txBody>
                    <a:bodyPr/>
                    <a:lstStyle/>
                    <a:p>
                      <a:pPr indent="0" lvl="0" marL="0" marR="0" rtl="0" algn="l">
                        <a:lnSpc>
                          <a:spcPct val="100000"/>
                        </a:lnSpc>
                        <a:spcBef>
                          <a:spcPts val="0"/>
                        </a:spcBef>
                        <a:spcAft>
                          <a:spcPts val="0"/>
                        </a:spcAft>
                        <a:buClr>
                          <a:srgbClr val="0088CC"/>
                        </a:buClr>
                        <a:buSzPts val="1400"/>
                        <a:buFont typeface="Calibri"/>
                        <a:buNone/>
                      </a:pPr>
                      <a:r>
                        <a:rPr b="0" i="0" lang="en-US" sz="1400" u="sng" cap="none" strike="noStrike">
                          <a:solidFill>
                            <a:schemeClr val="hlink"/>
                          </a:solidFill>
                          <a:hlinkClick r:id="rId6"/>
                        </a:rPr>
                        <a:t>archetype-common</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Core classes,</a:t>
                      </a:r>
                      <a:endParaRPr/>
                    </a:p>
                  </a:txBody>
                  <a:tcPr marT="60675" marB="60675" marR="60675" marL="6067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339725">
                <a:tc>
                  <a:txBody>
                    <a:bodyPr/>
                    <a:lstStyle/>
                    <a:p>
                      <a:pPr indent="0" lvl="0" marL="0" marR="0" rtl="0" algn="l">
                        <a:lnSpc>
                          <a:spcPct val="100000"/>
                        </a:lnSpc>
                        <a:spcBef>
                          <a:spcPts val="0"/>
                        </a:spcBef>
                        <a:spcAft>
                          <a:spcPts val="0"/>
                        </a:spcAft>
                        <a:buClr>
                          <a:srgbClr val="0088CC"/>
                        </a:buClr>
                        <a:buSzPts val="1400"/>
                        <a:buFont typeface="Calibri"/>
                        <a:buNone/>
                      </a:pPr>
                      <a:r>
                        <a:rPr b="0" i="0" lang="en-US" sz="1400" u="sng" cap="none" strike="noStrike">
                          <a:solidFill>
                            <a:schemeClr val="hlink"/>
                          </a:solidFill>
                          <a:hlinkClick r:id="rId7"/>
                        </a:rPr>
                        <a:t>archetype-testing</a:t>
                      </a:r>
                      <a:endParaRPr/>
                    </a:p>
                  </a:txBody>
                  <a:tcPr marT="60675" marB="60675" marR="60675" marL="60675">
                    <a:lnT cap="flat" cmpd="sng" w="9525">
                      <a:solidFill>
                        <a:srgbClr val="DDDDDD"/>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Components used internally to test Maven Archetype,</a:t>
                      </a:r>
                      <a:endParaRPr/>
                    </a:p>
                  </a:txBody>
                  <a:tcPr marT="60675" marB="60675" marR="60675" marL="60675">
                    <a:lnT cap="flat" cmpd="sng" w="9525">
                      <a:solidFill>
                        <a:srgbClr val="DDDDDD"/>
                      </a:solidFill>
                      <a:prstDash val="solid"/>
                      <a:round/>
                      <a:headEnd len="sm" w="sm" type="none"/>
                      <a:tailEnd len="sm" w="sm" type="none"/>
                    </a:lnT>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